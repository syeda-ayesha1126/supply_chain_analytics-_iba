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552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35640" y="6601968"/>
            <a:ext cx="1353312" cy="256032"/>
          </a:xfrm>
          <a:prstGeom prst="rect">
            <a:avLst/>
          </a:prstGeom>
          <a:solidFill>
            <a:srgbClr val="FFD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2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133F"/>
                </a:solidFill>
              </a:rPr>
              <a:t>How much Chili Mili should we commit for the next 12 weeks?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5D78"/>
                </a:solidFill>
              </a:rPr>
              <a:t>Demand Planning / Supply Chain • 29 Jun–14 Sep 2026 • Balance service risk against excess inventory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64240" y="384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5D78"/>
                </a:solidFill>
              </a:rPr>
              <a:t>1/6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20116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EXPECTED DEMAND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2585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414,504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26791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units / 12 weeks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08960" y="1874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73552" y="20116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COMMIT NOW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73552" y="22585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331,603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273552" y="26791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80% of expected demand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669280" y="187452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833872" y="2011680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KEEP FLEXIBLE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33872" y="225856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82,901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833872" y="26791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20% responsive supply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74980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3566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THE MANAGEMENT TRADE-OFF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93192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26133F"/>
                </a:solidFill>
              </a:rPr>
              <a:t>Under-plan → shortages &amp; service loss</a:t>
            </a:r>
            <a:endParaRPr lang="en-US" sz="1600" dirty="0"/>
          </a:p>
          <a:p>
            <a:r>
              <a:rPr lang="en-US" sz="1600" dirty="0">
                <a:solidFill>
                  <a:srgbClr val="26133F"/>
                </a:solidFill>
              </a:rPr>
              <a:t>Over-plan → excess stock &amp; working capital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26133F"/>
                </a:solidFill>
              </a:rPr>
              <a:t>Decision: protect the base while preserving flexibility for volatile promotion/event weeks.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21040" y="1874520"/>
            <a:ext cx="3246120" cy="3794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pic>
        <p:nvPicPr>
          <p:cNvPr id="23" name="Image 0" descr="/mnt/data/brand_assets/chili_mili_produc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084832"/>
            <a:ext cx="2788920" cy="1828800"/>
          </a:xfrm>
          <a:prstGeom prst="rect">
            <a:avLst/>
          </a:prstGeom>
          <a:ln/>
        </p:spPr>
      </p:pic>
      <p:sp>
        <p:nvSpPr>
          <p:cNvPr id="24" name="Text 21"/>
          <p:cNvSpPr/>
          <p:nvPr/>
        </p:nvSpPr>
        <p:spPr>
          <a:xfrm>
            <a:off x="8641080" y="416052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078"/>
                </a:solidFill>
              </a:rPr>
              <a:t>12-WEEK PLANNING QUESTION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686800" y="45262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6133F"/>
                </a:solidFill>
              </a:rPr>
              <a:t>How much should we supply — and how much should stay flexible?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486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D78"/>
                </a:solidFill>
              </a:rPr>
              <a:t>Company-calibrated synthetic academic data; not actual Chili Mili company records.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552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35640" y="6601968"/>
            <a:ext cx="1353312" cy="256032"/>
          </a:xfrm>
          <a:prstGeom prst="rect">
            <a:avLst/>
          </a:prstGeom>
          <a:solidFill>
            <a:srgbClr val="FFD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2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PATTERN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133F"/>
                </a:solidFill>
              </a:rPr>
              <a:t>Demand is rising — but temporary shocks create the real planning risk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5D78"/>
                </a:solidFill>
              </a:rPr>
              <a:t>156 weekly observations • Jul 2023–Jun 2026 • promotions, Ramadan/Eid, stockouts and exceptional events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64240" y="384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5D78"/>
                </a:solidFill>
              </a:rPr>
              <a:t>2/6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92024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MEAN WEEKLY DEMAND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16712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30,159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258775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units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88920" y="178308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53512" y="192024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VARIATION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53512" y="216712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15.19%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53512" y="258775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coefficient of variation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0" y="1783080"/>
            <a:ext cx="20574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93792" y="1920240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HISTORY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93792" y="2167128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156 weeks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193792" y="258775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three synthetic years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740664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2960" y="34290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DEMAND PATTERN DIAGNOSIS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79476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133F"/>
                </a:solidFill>
              </a:rPr>
              <a:t>• Gradually rising underlying demand level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133F"/>
                </a:solidFill>
              </a:rPr>
              <a:t>• Promotion and Ramadan/Eid periods create temporary spikes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133F"/>
                </a:solidFill>
              </a:rPr>
              <a:t>• Stockouts and exceptional disruptions suppress observed sales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26133F"/>
                </a:solidFill>
              </a:rPr>
              <a:t>• Shocks return toward the underlying level rather than forming permanent structural shifts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229600" y="1783080"/>
            <a:ext cx="3337560" cy="38862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0" y="21488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KEY INSIGHT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2560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Average demand alone is not enough.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503920" y="3337560"/>
            <a:ext cx="2514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5D78"/>
                </a:solidFill>
              </a:rPr>
              <a:t>Short-lived peaks and disruptions drive inventory and service risk — so both a simple benchmark and seasonal/event-aware alternatives must be tested.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983480"/>
            <a:ext cx="2377440" cy="310896"/>
          </a:xfrm>
          <a:prstGeom prst="roundRect">
            <a:avLst>
              <a:gd name="adj" fmla="val 35294"/>
            </a:avLst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49640" y="5056632"/>
            <a:ext cx="2286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PAST → MODEL CHOICE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D78"/>
                </a:solidFill>
              </a:rPr>
              <a:t>Company-calibrated synthetic academic data; not actual Chili Mili company records.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552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35640" y="6601968"/>
            <a:ext cx="1353312" cy="256032"/>
          </a:xfrm>
          <a:prstGeom prst="rect">
            <a:avLst/>
          </a:prstGeom>
          <a:solidFill>
            <a:srgbClr val="FFD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2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133F"/>
                </a:solidFill>
              </a:rPr>
              <a:t>The simplest model earned our trust on unseen demand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5D78"/>
                </a:solidFill>
              </a:rPr>
              <a:t>All methods used the same 12-week holdout; lower WAPE is better and no holdout actuals were used during fitting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64240" y="384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5D78"/>
                </a:solidFill>
              </a:rPr>
              <a:t>3/6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87452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WINNER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1214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NAIVE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25420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selected on holdout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0" y="1737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07792" y="187452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WAPE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07792" y="21214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6.98%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07792" y="25420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absolute error / volume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0" y="1737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02352" y="187452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MAPE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02352" y="21214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6.61%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102352" y="25420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average percentage miss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132320" y="173736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96912" y="187452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TRACKING SIGNAL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296912" y="2121408"/>
            <a:ext cx="1682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+0.38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6912" y="25420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near-neutral drift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154680"/>
            <a:ext cx="68580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340156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52078"/>
                </a:solidFill>
              </a:rPr>
              <a:t>Naive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48840" y="3419856"/>
            <a:ext cx="2393442" cy="16459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355080" y="340156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6133F"/>
                </a:solidFill>
              </a:rPr>
              <a:t>6.98%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" y="371246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Event trend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148840" y="3730752"/>
            <a:ext cx="2472309" cy="164592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55080" y="37124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133F"/>
                </a:solidFill>
              </a:rPr>
              <a:t>7.21%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22960" y="402336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Holt-Winters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148840" y="4041648"/>
            <a:ext cx="2880360" cy="164592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355080" y="402336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133F"/>
                </a:solidFill>
              </a:rPr>
              <a:t>8.40%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22960" y="433425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SES α=.6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48840" y="4352544"/>
            <a:ext cx="2880360" cy="164592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55080" y="433425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133F"/>
                </a:solidFill>
              </a:rPr>
              <a:t>8.40%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22960" y="46451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SES α=.3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148840" y="4663440"/>
            <a:ext cx="3312414" cy="164592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355080" y="464515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133F"/>
                </a:solidFill>
              </a:rPr>
              <a:t>9.66%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22960" y="495604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4-week MA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48840" y="4974336"/>
            <a:ext cx="3744468" cy="164592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355080" y="49560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133F"/>
                </a:solidFill>
              </a:rPr>
              <a:t>10.92%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22960" y="526694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Seasonal naive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148840" y="5285232"/>
            <a:ext cx="4094226" cy="164592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355080" y="526694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6133F"/>
                </a:solidFill>
              </a:rPr>
              <a:t>11.94%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680960" y="3154680"/>
            <a:ext cx="38862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8001000" y="3493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2078"/>
                </a:solidFill>
              </a:rPr>
              <a:t>WHY NOT CHOOSE THE MOST COMPLEX MODEL?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01000" y="40690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6133F"/>
                </a:solidFill>
              </a:rPr>
              <a:t>Because complexity did not improve unseen short-horizon accuracy. The Naive benchmark had the lowest WAPE and acceptable bias, making it the most defensible planning choice.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5486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D78"/>
                </a:solidFill>
              </a:rPr>
              <a:t>Company-calibrated synthetic academic data; not actual Chili Mili company records.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552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35640" y="6601968"/>
            <a:ext cx="1353312" cy="256032"/>
          </a:xfrm>
          <a:prstGeom prst="rect">
            <a:avLst/>
          </a:prstGeom>
          <a:solidFill>
            <a:srgbClr val="FFD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2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133F"/>
                </a:solidFill>
              </a:rPr>
              <a:t>Promotions, events and availability are associated with demand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5D78"/>
                </a:solidFill>
              </a:rPr>
              <a:t>OLS on the training period • R² 0.728 • adjusted R² 0.718 • interpret as association, not causal proof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64240" y="384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5D78"/>
                </a:solidFill>
              </a:rPr>
              <a:t>4/6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5836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1783080"/>
            <a:ext cx="73152" cy="594360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9385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33F"/>
                </a:solidFill>
              </a:rPr>
              <a:t>Promo depth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0" y="190195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52078"/>
                </a:solidFill>
              </a:rPr>
              <a:t>+468 / pp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94767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5D78"/>
                </a:solidFill>
              </a:rPr>
              <a:t>p &lt; .001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42032"/>
            <a:ext cx="65836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2542032"/>
            <a:ext cx="73152" cy="594360"/>
          </a:xfrm>
          <a:prstGeom prst="rect">
            <a:avLst/>
          </a:prstGeom>
          <a:solidFill>
            <a:srgbClr val="FFD84A"/>
          </a:solidFill>
          <a:ln w="12700">
            <a:solidFill>
              <a:srgbClr val="FFD84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6974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33F"/>
                </a:solidFill>
              </a:rPr>
              <a:t>Ramadan/Eid event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08960" y="266090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D84A"/>
                </a:solidFill>
              </a:rPr>
              <a:t>+2,343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270662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5D78"/>
                </a:solidFill>
              </a:rPr>
              <a:t>p &lt; .001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300984"/>
            <a:ext cx="65836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48640" y="3300984"/>
            <a:ext cx="73152" cy="594360"/>
          </a:xfrm>
          <a:prstGeom prst="rect">
            <a:avLst/>
          </a:prstGeom>
          <a:solidFill>
            <a:srgbClr val="5F9B61"/>
          </a:solidFill>
          <a:ln w="12700">
            <a:solidFill>
              <a:srgbClr val="5F9B6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3456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33F"/>
                </a:solidFill>
              </a:rPr>
              <a:t>Distribution points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08960" y="341985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5F9B61"/>
                </a:solidFill>
              </a:rPr>
              <a:t>+3.04 / point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83480" y="34655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5D78"/>
                </a:solidFill>
              </a:rPr>
              <a:t>p = .002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059936"/>
            <a:ext cx="65836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48640" y="4059936"/>
            <a:ext cx="73152" cy="594360"/>
          </a:xfrm>
          <a:prstGeom prst="rect">
            <a:avLst/>
          </a:prstGeom>
          <a:solidFill>
            <a:srgbClr val="6C5D78"/>
          </a:solidFill>
          <a:ln w="12700">
            <a:solidFill>
              <a:srgbClr val="6C5D78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421538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33F"/>
                </a:solidFill>
              </a:rPr>
              <a:t>Stockout flag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108960" y="4178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6C5D78"/>
                </a:solidFill>
              </a:rPr>
              <a:t>−6,975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83480" y="4224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5D78"/>
                </a:solidFill>
              </a:rPr>
              <a:t>p &lt; .001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818888"/>
            <a:ext cx="65836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48640" y="4818888"/>
            <a:ext cx="73152" cy="594360"/>
          </a:xfrm>
          <a:prstGeom prst="rect">
            <a:avLst/>
          </a:prstGeom>
          <a:solidFill>
            <a:srgbClr val="D9C3E8"/>
          </a:solidFill>
          <a:ln w="12700">
            <a:solidFill>
              <a:srgbClr val="D9C3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7240" y="4974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133F"/>
                </a:solidFill>
              </a:rPr>
              <a:t>Price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108960" y="49377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C3E8"/>
                </a:solidFill>
              </a:rPr>
              <a:t>+1.44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83480" y="49834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5D78"/>
                </a:solidFill>
              </a:rPr>
              <a:t>p = .698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1783080"/>
            <a:ext cx="406908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818120" y="214884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MANAGEMENT READ-OUT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18120" y="2542032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33F"/>
                </a:solidFill>
              </a:rPr>
              <a:t>Promotion intensity and event timing deserve explicit attention in replenishment decisions. Stockouts are associated with materially lower observed demand.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818120" y="39776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C5D78"/>
                </a:solidFill>
              </a:rPr>
              <a:t>Price is not statistically significant in this model (p=.698), so its positive coefficient should not be given a causal interpretation. Omitted factors may include competitor activity, advertising, weather and retailer execution.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D78"/>
                </a:solidFill>
              </a:rPr>
              <a:t>Company-calibrated synthetic academic data; not actual Chili Mili company records.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552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35640" y="6601968"/>
            <a:ext cx="1353312" cy="256032"/>
          </a:xfrm>
          <a:prstGeom prst="rect">
            <a:avLst/>
          </a:prstGeom>
          <a:solidFill>
            <a:srgbClr val="FFD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2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133F"/>
                </a:solidFill>
              </a:rPr>
              <a:t>A promotion week produced the largest miss — flexibility is not optional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5D78"/>
                </a:solidFill>
              </a:rPr>
              <a:t>Holdout error + stress test show where the point forecast can fail and what that means operationally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64240" y="384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5D78"/>
                </a:solidFill>
              </a:rPr>
              <a:t>5/6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13232" y="192024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LARGEST MISS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" y="216712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11,124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13232" y="258775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units underforecast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80360" y="178308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044952" y="192024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DATE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44952" y="216712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15 Jun 2026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044952" y="258775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20% promotion week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178308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76672" y="192024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UPSIDE +20%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76672" y="216712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497,405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376672" y="258775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12-week demand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543800" y="178308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708392" y="192024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CAPACITY GAP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08392" y="2167128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≈41,450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708392" y="258775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units at +20% demand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3246120"/>
            <a:ext cx="53949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22960" y="35478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STRESS 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886200"/>
            <a:ext cx="2560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133F"/>
                </a:solidFill>
              </a:rPr>
              <a:t>−20% demand  → 331,603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133F"/>
                </a:solidFill>
              </a:rPr>
              <a:t>−10% demand  → 373,054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133F"/>
                </a:solidFill>
              </a:rPr>
              <a:t>Base               → 414,504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133F"/>
                </a:solidFill>
              </a:rPr>
              <a:t>Event +15%     → 476,680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6133F"/>
                </a:solidFill>
              </a:rPr>
              <a:t>+20% demand → 497,405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57600" y="40690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078"/>
                </a:solidFill>
              </a:rPr>
              <a:t>Illustrative capacity ceiling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52078"/>
                </a:solidFill>
              </a:rPr>
              <a:t>455,954 units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324612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537960" y="3566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WHAT COULD BREAK THE PLAN?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537960" y="39776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6133F"/>
                </a:solidFill>
              </a:rPr>
              <a:t>A stronger-than-expected promotion or event can consume the flexible supply quickly. At +20% demand, the illustrative capacity ceiling leaves a ≈41.5K-unit service gap.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86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D78"/>
                </a:solidFill>
              </a:rPr>
              <a:t>Company-calibrated synthetic academic data; not actual Chili Mili company records.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/>
          <p:cNvSpPr/>
          <p:nvPr/>
        </p:nvSpPr>
        <p:spPr>
          <a:xfrm>
            <a:off x="0" y="6601968"/>
            <a:ext cx="12192000" cy="256032"/>
          </a:xfrm>
          <a:prstGeom prst="rect">
            <a:avLst/>
          </a:prstGeom>
          <a:solidFill>
            <a:srgbClr val="552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835640" y="6601968"/>
            <a:ext cx="1353312" cy="256032"/>
          </a:xfrm>
          <a:prstGeom prst="rect">
            <a:avLst/>
          </a:prstGeom>
          <a:solidFill>
            <a:srgbClr val="FFD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20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6133F"/>
                </a:solidFill>
              </a:rPr>
              <a:t>Commit 80% now. Keep 20% flexible. Reforecast early.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5D78"/>
                </a:solidFill>
              </a:rPr>
              <a:t>The decision is designed to remain useful even when the point forecast is wrong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64240" y="3840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C5D78"/>
                </a:solidFill>
              </a:rPr>
              <a:t>6/6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2148840"/>
            <a:ext cx="8046720" cy="384048"/>
          </a:xfrm>
          <a:prstGeom prst="rect">
            <a:avLst/>
          </a:prstGeom>
          <a:solidFill>
            <a:srgbClr val="552078"/>
          </a:solidFill>
          <a:ln w="12700">
            <a:solidFill>
              <a:srgbClr val="55207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823960" y="2148840"/>
            <a:ext cx="2011680" cy="384048"/>
          </a:xfrm>
          <a:prstGeom prst="rect">
            <a:avLst/>
          </a:prstGeom>
          <a:solidFill>
            <a:srgbClr val="FFD84A"/>
          </a:solidFill>
          <a:ln w="12700">
            <a:solidFill>
              <a:srgbClr val="FFD8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560320" y="22219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80% COMMIT • 331,603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23960" y="22219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133F"/>
                </a:solidFill>
              </a:rPr>
              <a:t>20% FLEX • 82,901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13232" y="34747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12-WEEK FORECAST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13232" y="37216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414,504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13232" y="41422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units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063240" y="33375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27832" y="34747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WEEKLY PLANNING LEVEL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27832" y="37216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34,542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227832" y="41422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units/week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577840" y="33375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42432" y="34747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REVIEW TRIGGER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42432" y="37216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&gt;10%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742432" y="41422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2-week cumulative deviation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092440" y="33375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57032" y="3474720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70" kern="0" dirty="0">
                <a:solidFill>
                  <a:srgbClr val="6C5D78"/>
                </a:solidFill>
              </a:rPr>
              <a:t>BIAS TRIGGER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57032" y="37216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6133F"/>
                </a:solidFill>
              </a:rPr>
              <a:t>TS outside ±4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8257032" y="41422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C5D78"/>
                </a:solidFill>
              </a:rPr>
              <a:t>investigate / reforecast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110185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6DDD2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22960" y="51023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2078"/>
                </a:solidFill>
              </a:rPr>
              <a:t>FINAL MANAGEMENT CALL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88920" y="500176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133F"/>
                </a:solidFill>
              </a:rPr>
              <a:t>Plan for 414,504 units over 12 weeks, commit 331,603 now, preserve 82,901 as flexible supply, and monitor promotion/event weeks closely. This protects the base plan without pretending the forecast is certain.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48640" y="6565392"/>
            <a:ext cx="7315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C5D78"/>
                </a:solidFill>
              </a:rPr>
              <a:t>Company-calibrated synthetic academic data; not actual Chili Mili company records.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Chili Mili Demand Planning Decision Storyboard</dc:title>
  <dc:subject>MGT353 Chili Mili Decision Storyboard</dc:subject>
  <dc:creator>OpenAI</dc:creator>
  <cp:lastModifiedBy>OpenAI</cp:lastModifiedBy>
  <cp:revision>1</cp:revision>
  <dcterms:created xsi:type="dcterms:W3CDTF">2026-10-05T11:31:54Z</dcterms:created>
  <dcterms:modified xsi:type="dcterms:W3CDTF">2026-10-05T11:31:54Z</dcterms:modified>
</cp:coreProperties>
</file>